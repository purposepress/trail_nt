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ers" id="{d2e2243a-6105-aa8c-79e7-ea089fb84e61}">
          <p14:sldIdLst>
            <p14:sldId id="256"/>
            <p14:sldId id="257"/>
          </p14:sldIdLst>
        </p14:section>
        <p14:section name="Teaching" id="{21892434-15b8-8312-c34a-f2e43c3e689c}">
          <p14:sldIdLst>
            <p14:sldId id="258"/>
            <p14:sldId id="259"/>
            <p14:sldId id="260"/>
            <p14:sldId id="261"/>
            <p14:sldId id="262"/>
          </p14:sldIdLst>
        </p14:section>
        <p14:section name="Discussion" id="{05f986d4-c01c-cbf9-937f-9af199bbbd12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Use it for the first slide of a set, or a series opener. Readers see slides on a phone, so keep words few and large. Body text 24pt or more. Export: File &gt; Export &gt; Images (or PDF), then add them to this day on the admin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opener: day number, the day's title, and the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Scripture slide. Paste the verse from Bible Gateway and check the wording. Keep it to one or two verses so the text stays large.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slide. Three or four short points at most. Readers see slides on a phone, so keep words few and large. Body text 24pt or more. Export: File &gt; Export &gt; Images (or PDF), then add them to this day on the admin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slide for a map, photo, or diagram. Click the picture, then use Replace Picture (PowerPoint) or drag a new image onto it (Keynote). Make sure you have the rights to any image you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slide: two sides of a contrast, three points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slide. The gold marker shows where today's reading sits. Duplicate or delete a marker group (marker, name, reference) to change the number of stops, then even out the spacing.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slide for small groups. One question per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rail-Title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Trail-Day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Trail-Scripture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Trail-Points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Trail-Picture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Trail-Compare-image-1.jpe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Trail-Title-Only-image-1.jpe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Trail-Question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il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rpose Pr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56692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300" kern="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400" spc="300" kern="0" dirty="0">
                <a:solidFill>
                  <a:schemeClr val="bg2"/>
                </a:solidFill>
              </a:rPr>
              <a:t>THE TRAIL · NEW TESTAMENT EDITION</a:t>
            </a: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dirty="0">
                <a:solidFill>
                  <a:schemeClr val="bg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200" dirty="0">
                <a:solidFill>
                  <a:schemeClr val="bg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Title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063240"/>
            <a:ext cx="7315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Subtitle</a:t>
            </a: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il Day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05840"/>
            <a:ext cx="4572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spc="300" kern="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800" spc="300" kern="0" dirty="0">
                <a:solidFill>
                  <a:schemeClr val="bg2"/>
                </a:solidFill>
              </a:rPr>
              <a:t>DAY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dirty="0">
                <a:solidFill>
                  <a:schemeClr val="bg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dirty="0">
                <a:solidFill>
                  <a:schemeClr val="bg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Title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</a:rPr>
              <a:t>Reading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il Scriptu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749808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15000"/>
              </a:lnSpc>
              <a:buNone/>
              <a:defRPr lang="en-US" sz="3000" i="1" dirty="0">
                <a:solidFill>
                  <a:schemeClr val="tx1"/>
                </a:solidFill>
              </a:defRPr>
            </a:lvl1pPr>
          </a:lstStyle>
          <a:p>
            <a:pPr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chemeClr val="tx1"/>
                </a:solidFill>
              </a:rPr>
              <a:t>Verse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Reference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0936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NRSV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il Point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8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Title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804672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spcAft>
                <a:spcPts val="1400"/>
              </a:spcAft>
              <a:buSzPct val="100000"/>
              <a:buChar char="•"/>
              <a:defRPr lang="en-US" sz="2600" dirty="0">
                <a:solidFill>
                  <a:schemeClr val="tx1"/>
                </a:solidFill>
              </a:defRPr>
            </a:lvl1pPr>
          </a:lstStyle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Point</a:t>
            </a:r>
            <a:endParaRPr lang="en-US" sz="2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il Pictu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Title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Add a map, photo, or diagram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il Compa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Title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25880"/>
            <a:ext cx="3749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accent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defRPr>
            </a:lvl1pPr>
          </a:lstStyle>
          <a:p>
            <a:pPr indent="0" marL="0">
              <a:buNone/>
            </a:pPr>
            <a:r>
              <a:rPr lang="en-US" sz="2600" dirty="0">
                <a:solidFill>
                  <a:schemeClr val="accent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Left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828800"/>
            <a:ext cx="37490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spcAft>
                <a:spcPts val="1000"/>
              </a:spcAft>
              <a:buSzPct val="100000"/>
              <a:buChar char="•"/>
              <a:defRPr lang="en-US" sz="2200" dirty="0">
                <a:solidFill>
                  <a:schemeClr val="tx1"/>
                </a:solidFill>
              </a:defRPr>
            </a:lvl1pPr>
          </a:lstStyle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Point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846320" y="1325880"/>
            <a:ext cx="3749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accent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defRPr>
            </a:lvl1pPr>
          </a:lstStyle>
          <a:p>
            <a:pPr indent="0" marL="0">
              <a:buNone/>
            </a:pPr>
            <a:r>
              <a:rPr lang="en-US" sz="2600" dirty="0">
                <a:solidFill>
                  <a:schemeClr val="accent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Right</a:t>
            </a:r>
            <a:endParaRPr lang="en-US" sz="2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846320" y="1828800"/>
            <a:ext cx="37490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spcAft>
                <a:spcPts val="1000"/>
              </a:spcAft>
              <a:buSzPct val="100000"/>
              <a:buChar char="•"/>
              <a:defRPr lang="en-US" sz="2200" dirty="0">
                <a:solidFill>
                  <a:schemeClr val="tx1"/>
                </a:solidFill>
              </a:defRPr>
            </a:lvl1pPr>
          </a:lstStyle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Point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il Title Only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8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Title</a:t>
            </a:r>
            <a:endParaRPr lang="en-US" sz="3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il Ques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800" spc="300" kern="0" dirty="0">
                <a:solidFill>
                  <a:schemeClr val="accent2"/>
                </a:solidFill>
              </a:rPr>
              <a:t>TALK IT OVER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786384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10000"/>
              </a:lnSpc>
              <a:buNone/>
              <a:defRPr lang="en-US" sz="4000" dirty="0">
                <a:solidFill>
                  <a:schemeClr val="bg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defRPr>
            </a:lvl1pPr>
          </a:lstStyle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chemeClr val="bg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Question</a:t>
            </a: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bg2"/>
                </a:solidFill>
              </a:rPr>
              <a:t>THE TRAIL · NEW TESTAMENT EDITION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dirty="0">
                <a:solidFill>
                  <a:schemeClr val="bg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Following the Star</a:t>
            </a:r>
            <a:endParaRPr lang="en-US" sz="5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Matthew 2:1–12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05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spc="300" kern="0" dirty="0">
                <a:solidFill>
                  <a:schemeClr val="bg2"/>
                </a:solidFill>
              </a:rPr>
              <a:t>DAY 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chemeClr val="bg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Following the star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</a:rPr>
              <a:t>Matthew 2:1–12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7498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chemeClr val="tx1"/>
                </a:solidFill>
              </a:rPr>
              <a:t>“Where is the child who has been born king of the Jews? For we observed his star at its rising, and have come to pay him homage.”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Matthew 2:2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0936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NRSV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Three responses to the news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The magi travel far, kneel, and give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The scholars know the answer and stay home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Herod hears it as a threat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The road to Bethlehem</a:t>
            </a:r>
            <a:endParaRPr lang="en-US" sz="3200" dirty="0"/>
          </a:p>
        </p:txBody>
      </p:sp>
      <p:pic>
        <p:nvPicPr>
          <p:cNvPr id="3" name="Image 0" descr="Illustrative map: the magi come from the East to Jerusalem, then south to Bethlehem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548640" y="1051560"/>
            <a:ext cx="804672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Two kinds of seekers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Herod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82880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Hears the news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Calls a meeting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Plans to protect himself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84632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The magi</a:t>
            </a:r>
            <a:endParaRPr lang="en-US" sz="2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846320" y="182880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Follow the star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Kneel and give gifts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Go home by another road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chemeClr val="tx2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Matthew 1–2 at a glance</a:t>
            </a:r>
            <a:endParaRPr lang="en-US" sz="3800" dirty="0"/>
          </a:p>
        </p:txBody>
      </p:sp>
      <p:sp>
        <p:nvSpPr>
          <p:cNvPr id="3" name="Trail line"/>
          <p:cNvSpPr/>
          <p:nvPr/>
        </p:nvSpPr>
        <p:spPr>
          <a:xfrm>
            <a:off x="1051560" y="2606040"/>
            <a:ext cx="704088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</a:ln>
        </p:spPr>
      </p:sp>
      <p:sp>
        <p:nvSpPr>
          <p:cNvPr id="4" name="Marker 1"/>
          <p:cNvSpPr/>
          <p:nvPr/>
        </p:nvSpPr>
        <p:spPr>
          <a:xfrm>
            <a:off x="896112" y="2276856"/>
            <a:ext cx="310896" cy="27432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top 1"/>
          <p:cNvSpPr txBox="1"/>
          <p:nvPr/>
        </p:nvSpPr>
        <p:spPr>
          <a:xfrm>
            <a:off x="274320" y="2788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Family line</a:t>
            </a:r>
            <a:endParaRPr lang="en-US" sz="1800" dirty="0"/>
          </a:p>
        </p:txBody>
      </p:sp>
      <p:sp>
        <p:nvSpPr>
          <p:cNvPr id="6" name="Ref 1"/>
          <p:cNvSpPr txBox="1"/>
          <p:nvPr/>
        </p:nvSpPr>
        <p:spPr>
          <a:xfrm>
            <a:off x="27432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1:1–17</a:t>
            </a:r>
            <a:endParaRPr lang="en-US" sz="1600" dirty="0"/>
          </a:p>
        </p:txBody>
      </p:sp>
      <p:sp>
        <p:nvSpPr>
          <p:cNvPr id="7" name="Marker 2"/>
          <p:cNvSpPr/>
          <p:nvPr/>
        </p:nvSpPr>
        <p:spPr>
          <a:xfrm>
            <a:off x="2656332" y="2276856"/>
            <a:ext cx="310896" cy="27432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Stop 2"/>
          <p:cNvSpPr txBox="1"/>
          <p:nvPr/>
        </p:nvSpPr>
        <p:spPr>
          <a:xfrm>
            <a:off x="2034540" y="2788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Joseph’s dream</a:t>
            </a:r>
            <a:endParaRPr lang="en-US" sz="1800" dirty="0"/>
          </a:p>
        </p:txBody>
      </p:sp>
      <p:sp>
        <p:nvSpPr>
          <p:cNvPr id="9" name="Ref 2"/>
          <p:cNvSpPr txBox="1"/>
          <p:nvPr/>
        </p:nvSpPr>
        <p:spPr>
          <a:xfrm>
            <a:off x="203454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1:18–25</a:t>
            </a:r>
            <a:endParaRPr lang="en-US" sz="1600" dirty="0"/>
          </a:p>
        </p:txBody>
      </p:sp>
      <p:sp>
        <p:nvSpPr>
          <p:cNvPr id="10" name="Marker 3"/>
          <p:cNvSpPr/>
          <p:nvPr/>
        </p:nvSpPr>
        <p:spPr>
          <a:xfrm>
            <a:off x="4416552" y="2276856"/>
            <a:ext cx="310896" cy="274320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op 3"/>
          <p:cNvSpPr txBox="1"/>
          <p:nvPr/>
        </p:nvSpPr>
        <p:spPr>
          <a:xfrm>
            <a:off x="3794760" y="2788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magi</a:t>
            </a:r>
            <a:endParaRPr lang="en-US" sz="1800" dirty="0"/>
          </a:p>
        </p:txBody>
      </p:sp>
      <p:sp>
        <p:nvSpPr>
          <p:cNvPr id="12" name="Ref 3"/>
          <p:cNvSpPr txBox="1"/>
          <p:nvPr/>
        </p:nvSpPr>
        <p:spPr>
          <a:xfrm>
            <a:off x="379476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2:1–12</a:t>
            </a:r>
            <a:endParaRPr lang="en-US" sz="1600" dirty="0"/>
          </a:p>
        </p:txBody>
      </p:sp>
      <p:sp>
        <p:nvSpPr>
          <p:cNvPr id="13" name="Marker 4"/>
          <p:cNvSpPr/>
          <p:nvPr/>
        </p:nvSpPr>
        <p:spPr>
          <a:xfrm>
            <a:off x="6176772" y="2276856"/>
            <a:ext cx="310896" cy="27432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Stop 4"/>
          <p:cNvSpPr txBox="1"/>
          <p:nvPr/>
        </p:nvSpPr>
        <p:spPr>
          <a:xfrm>
            <a:off x="5554980" y="2788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Flight to Egypt</a:t>
            </a:r>
            <a:endParaRPr lang="en-US" sz="1800" dirty="0"/>
          </a:p>
        </p:txBody>
      </p:sp>
      <p:sp>
        <p:nvSpPr>
          <p:cNvPr id="15" name="Ref 4"/>
          <p:cNvSpPr txBox="1"/>
          <p:nvPr/>
        </p:nvSpPr>
        <p:spPr>
          <a:xfrm>
            <a:off x="555498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2:13–15</a:t>
            </a:r>
            <a:endParaRPr lang="en-US" sz="1600" dirty="0"/>
          </a:p>
        </p:txBody>
      </p:sp>
      <p:sp>
        <p:nvSpPr>
          <p:cNvPr id="16" name="Marker 5"/>
          <p:cNvSpPr/>
          <p:nvPr/>
        </p:nvSpPr>
        <p:spPr>
          <a:xfrm>
            <a:off x="7936992" y="2276856"/>
            <a:ext cx="310896" cy="27432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Stop 5"/>
          <p:cNvSpPr txBox="1"/>
          <p:nvPr/>
        </p:nvSpPr>
        <p:spPr>
          <a:xfrm>
            <a:off x="7315200" y="2788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Home to Nazareth</a:t>
            </a:r>
            <a:endParaRPr lang="en-US" sz="1800" dirty="0"/>
          </a:p>
        </p:txBody>
      </p:sp>
      <p:sp>
        <p:nvSpPr>
          <p:cNvPr id="18" name="Ref 5"/>
          <p:cNvSpPr txBox="1"/>
          <p:nvPr/>
        </p:nvSpPr>
        <p:spPr>
          <a:xfrm>
            <a:off x="731520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2:19–23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spc="300" kern="0" dirty="0">
                <a:solidFill>
                  <a:schemeClr val="accent2"/>
                </a:solidFill>
              </a:rPr>
              <a:t>TALK IT OVER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chemeClr val="bg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Where might God be asking you to take another road?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 Trail">
  <a:themeElements>
    <a:clrScheme name="The Trail">
      <a:dk1>
        <a:srgbClr val="1F2A24"/>
      </a:dk1>
      <a:lt1>
        <a:srgbClr val="F3F1EC"/>
      </a:lt1>
      <a:dk2>
        <a:srgbClr val="2F5A45"/>
      </a:dk2>
      <a:lt2>
        <a:srgbClr val="DFE9E2"/>
      </a:lt2>
      <a:accent1>
        <a:srgbClr val="2F5A45"/>
      </a:accent1>
      <a:accent2>
        <a:srgbClr val="E3A63F"/>
      </a:accent2>
      <a:accent3>
        <a:srgbClr val="C98A1B"/>
      </a:accent3>
      <a:accent4>
        <a:srgbClr val="5D6A62"/>
      </a:accent4>
      <a:accent5>
        <a:srgbClr val="1D3A2C"/>
      </a:accent5>
      <a:accent6>
        <a:srgbClr val="3D5F7A"/>
      </a:accent6>
      <a:hlink>
        <a:srgbClr val="2F5A45"/>
      </a:hlink>
      <a:folHlink>
        <a:srgbClr val="5D6A62"/>
      </a:folHlink>
    </a:clrScheme>
    <a:fontScheme name="The Trail">
      <a:majorFont>
        <a:latin typeface="Young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terat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Purpose Press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Trail Slide Templates</dc:title>
  <dc:subject>PptxGenJS Presentation</dc:subject>
  <dc:creator>Purpose Press</dc:creator>
  <cp:lastModifiedBy>Purpose Press</cp:lastModifiedBy>
  <cp:revision>1</cp:revision>
  <dcterms:created xsi:type="dcterms:W3CDTF">2026-10-26T00:30:16Z</dcterms:created>
  <dcterms:modified xsi:type="dcterms:W3CDTF">2026-10-26T00:30:16Z</dcterms:modified>
</cp:coreProperties>
</file>